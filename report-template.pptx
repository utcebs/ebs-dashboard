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70" r:id="rId5"/>
    <p:sldId id="301" r:id="rId6"/>
    <p:sldId id="30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A59C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88A71-D40E-4785-B907-8D4BDAEC1BBC}" type="datetimeFigureOut">
              <a:rPr lang="en-US" smtClean="0"/>
              <a:t>14-04-2026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22C57-5447-42F7-84A7-D210869C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2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22C57-5447-42F7-84A7-D210869C1E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13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87B0-BF9C-7760-1EB7-53605A71A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DFB17-ECAA-CD73-5E9A-4C389CC92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C5524-ADFB-E212-110C-997CD0E6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95F99-626D-4CDF-98F6-B3C180B17F24}" type="datetime1">
              <a:rPr lang="en-US" smtClean="0"/>
              <a:t>14-04-2026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486FC-C15F-47B7-AD4B-3D39535C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402A2-5125-2575-9EB5-3277C69A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8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B8C2-77CD-1DAD-3250-FC87A539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D6BE4-85FA-5CB8-384F-9F88D156A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CE56-3C9D-A44E-0693-5712A5BC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1FB5A-D36A-4437-91AE-DAB3945CE345}" type="datetime1">
              <a:rPr lang="en-US" smtClean="0"/>
              <a:t>14-04-2026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2B026-C0C5-9E2B-E00A-D31EE65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71BA6-D9C7-03C4-E96C-14F86607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8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CAF9-A5CB-EA05-4B3D-15CE8417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2E702-E04C-F656-76B2-9078A9C7D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223CE-92C2-D163-27B4-8A54C155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597C-0DDC-4A9D-9A96-70127A6A34F8}" type="datetime1">
              <a:rPr lang="en-US" smtClean="0"/>
              <a:t>14-04-2026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DECCB-3C3A-50FB-C0D8-EAE1A43E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E548F-DD7F-407A-B408-E4A8B40D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4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D25B-3CEA-93FB-B0C2-5184D42A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887D6-E10D-840C-C446-C1305324A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6D9F8-C1A4-99B3-C910-BD168ADAA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D2427-2396-FDC5-D0A8-77423429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F5830-90B9-4404-B915-C72ACFE00BFC}" type="datetime1">
              <a:rPr lang="en-US" smtClean="0"/>
              <a:t>14-04-2026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630A9-820F-9570-CF4D-A19DE58A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6E4D7-0332-66BC-784B-4E3869EB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1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8564-CEB4-E16E-256E-E07CA9F8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A0DBE-829B-06A1-D460-44B1DCBBB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A90C2-789D-F0DE-A8B1-73D203A75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09CF2-2EFB-63C0-7C6A-A5C6C45ED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7DB0EA-57E2-FD36-BDA6-0A3812032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D8390-A11F-35CB-17A4-C5B34F35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C070-5935-4767-AA0D-8C874BDADE01}" type="datetime1">
              <a:rPr lang="en-US" smtClean="0"/>
              <a:t>14-04-2026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39C28-47FF-6EBD-2F8A-08A76935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093BB-3512-284D-F7CF-644D69C6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3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6111-036A-CF99-DBDB-2BB442CC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B73F8-CF07-D41D-FBB4-F9D32010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8820F-F658-455E-BEDF-5C1A7092D32D}" type="datetime1">
              <a:rPr lang="en-US" smtClean="0"/>
              <a:t>14-04-2026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7C534-F985-FF3E-BD55-34083FD3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97BB-49F3-5FFF-D7C2-F6FF5BE2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9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E06C2-E330-76E0-F9F8-DEBCCD20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05CB-92D5-4FE7-9B7C-621C66F3E4A0}" type="datetime1">
              <a:rPr lang="en-US" smtClean="0"/>
              <a:t>14-04-2026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4D8E7-B93D-D18D-037C-DAAB1DE5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26FF2-8524-5504-6227-4B628914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9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AD90-F073-5AF4-FD66-8014CC9B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DB08D-1065-FEB4-5BC3-F585D5D19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49917-35C3-461B-23A4-9AC68D5D0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64F29-93E2-2822-7752-2B85EEB8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F7A8C-930E-4060-89DB-69316FAEE68E}" type="datetime1">
              <a:rPr lang="en-US" smtClean="0"/>
              <a:t>14-04-2026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41083-4749-AA8C-C6E1-69E084F13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DC2C6-A360-4290-44B8-387E4956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1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1404-70D3-75E0-F17B-E7AB5D75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0D230-0C79-F19F-04EC-AF1702567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8110D-71E3-3A74-F8CC-7E0C2900E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E1EF0-1968-DBCF-A411-2F962774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8FA06-DEAC-4F46-BE1B-120F7A0ABC40}" type="datetime1">
              <a:rPr lang="en-US" smtClean="0"/>
              <a:t>14-04-2026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9627C-5602-E010-52C3-0BF54822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7C713-CA39-5E7E-6F31-14668F1D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2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FB0A-10E9-032D-37F9-4E099498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E0323-3E5C-7EFF-362F-CF07E4143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157E9-1F45-B9E6-16BF-1B05DB0C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255C-484D-4363-99BB-C930401A0CA4}" type="datetime1">
              <a:rPr lang="en-US" smtClean="0"/>
              <a:t>14-04-2026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C1581-3BD6-4086-C8B5-1864B2C13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11CCB-FA15-0DE6-73EE-CF5933AB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98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4EAF5-5E12-16FA-BAC2-C9EFDFD8E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FC7B4-57AF-577C-5E4A-55E2FB77A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AE522-E1F6-3212-2C47-935ECEEB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ABA24-676D-487B-B72A-A9AEE384F742}" type="datetime1">
              <a:rPr lang="en-US" smtClean="0"/>
              <a:t>14-04-2026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CEC87-D39F-FBDA-FB37-46EE78DF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14CFF-B3F9-42B0-2FFD-C6FE7264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6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A9770-F294-CBB0-1CE6-05B84B00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B779C-4700-A835-5B1D-E94B8B908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5142C-4232-6B66-7877-06D06743A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1D678-EA2E-40CC-9C49-3A96724250AE}" type="datetime1">
              <a:rPr lang="en-US" smtClean="0"/>
              <a:t>14-04-2026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0C69B-F3F0-950C-E9F8-3E48A3A41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57922-2BC5-5CF6-2CF5-9622B30F4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223D5-EE13-436C-9684-74E257AAB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8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tckwt-my.sharepoint.com/:x:/g/personal/thulasi_utc_com_kw/IQCW9yJ9NMirR4kDgtt8IxhHAcrJBMPsroSj4kX0Z9TaJXM?e=56Xtw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44A70A-0303-A7EC-1664-E00540D88C30}"/>
              </a:ext>
            </a:extLst>
          </p:cNvPr>
          <p:cNvSpPr/>
          <p:nvPr/>
        </p:nvSpPr>
        <p:spPr>
          <a:xfrm>
            <a:off x="323823" y="2907271"/>
            <a:ext cx="11339670" cy="3729409"/>
          </a:xfrm>
          <a:prstGeom prst="round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2C332-06B6-B4ED-D549-0AD7D78BD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5" y="221320"/>
            <a:ext cx="2153724" cy="9075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0CC00E-0BED-F488-4218-B15F8F8F1E6C}"/>
              </a:ext>
            </a:extLst>
          </p:cNvPr>
          <p:cNvSpPr txBox="1"/>
          <p:nvPr/>
        </p:nvSpPr>
        <p:spPr>
          <a:xfrm>
            <a:off x="528507" y="3310602"/>
            <a:ext cx="65307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>
                <a:solidFill>
                  <a:schemeClr val="bg1"/>
                </a:solidFill>
                <a:latin typeface="Arial Nova" panose="020B0504020202020204" pitchFamily="34" charset="0"/>
              </a:rPr>
              <a:t>First Quarter FY26</a:t>
            </a:r>
            <a:br>
              <a:rPr lang="en-US" sz="2700" b="1">
                <a:solidFill>
                  <a:schemeClr val="bg1"/>
                </a:solidFill>
                <a:latin typeface="Arial Nova" panose="020B0504020202020204" pitchFamily="34" charset="0"/>
              </a:rPr>
            </a:br>
            <a:r>
              <a:rPr lang="en-US" sz="2700" b="1">
                <a:solidFill>
                  <a:schemeClr val="bg1"/>
                </a:solidFill>
                <a:latin typeface="Arial Nova" panose="020B0504020202020204" pitchFamily="34" charset="0"/>
              </a:rPr>
              <a:t>Monthly Business Performance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5BA25-7C19-ABA8-B5E6-935C5A49B748}"/>
              </a:ext>
            </a:extLst>
          </p:cNvPr>
          <p:cNvSpPr txBox="1"/>
          <p:nvPr/>
        </p:nvSpPr>
        <p:spPr>
          <a:xfrm>
            <a:off x="564365" y="5906821"/>
            <a:ext cx="1624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Arial Nova" panose="020B0504020202020204" pitchFamily="34" charset="0"/>
              </a:rPr>
              <a:t>April 15th, 2026</a:t>
            </a:r>
          </a:p>
        </p:txBody>
      </p:sp>
    </p:spTree>
    <p:extLst>
      <p:ext uri="{BB962C8B-B14F-4D97-AF65-F5344CB8AC3E}">
        <p14:creationId xmlns:p14="http://schemas.microsoft.com/office/powerpoint/2010/main" val="238040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E867-A07B-FB72-4816-25F3809E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29CE28-0403-8A23-8E13-01D92B9E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223D5-EE13-436C-9684-74E257AAB65C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6FEFBF-279D-588A-DA76-CF1CB45B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7D1ADF-3587-1662-9076-B7ABF63C4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5" y="221320"/>
            <a:ext cx="2153724" cy="907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82CBF-8D43-5B28-3F1A-601B5769FBD4}"/>
              </a:ext>
            </a:extLst>
          </p:cNvPr>
          <p:cNvSpPr txBox="1"/>
          <p:nvPr/>
        </p:nvSpPr>
        <p:spPr>
          <a:xfrm>
            <a:off x="4711326" y="3128918"/>
            <a:ext cx="276934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>
                <a:latin typeface="Arial Nova" panose="020B0504020202020204" pitchFamily="34" charset="0"/>
              </a:rPr>
              <a:t>EBS Updates</a:t>
            </a:r>
          </a:p>
        </p:txBody>
      </p:sp>
    </p:spTree>
    <p:extLst>
      <p:ext uri="{BB962C8B-B14F-4D97-AF65-F5344CB8AC3E}">
        <p14:creationId xmlns:p14="http://schemas.microsoft.com/office/powerpoint/2010/main" val="173979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75552" y="6381517"/>
            <a:ext cx="2743200" cy="365125"/>
          </a:xfrm>
        </p:spPr>
        <p:txBody>
          <a:bodyPr/>
          <a:lstStyle/>
          <a:p>
            <a:fld id="{CFE2AF94-DC0C-2449-AD05-80AA0CE74F18}" type="slidenum">
              <a:rPr lang="en-KW" smtClean="0"/>
              <a:t>3</a:t>
            </a:fld>
            <a:endParaRPr lang="en-KW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219" y="198580"/>
            <a:ext cx="11488445" cy="4249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z="2500" b="1"/>
              <a:t>EBS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551" y="547305"/>
            <a:ext cx="10273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Nova" panose="020B0504020202020204" pitchFamily="34" charset="0"/>
              </a:rPr>
              <a:t>EBS Project Portfolio  |  March 2026  |  Monthly Business Review</a:t>
            </a:r>
          </a:p>
        </p:txBody>
      </p:sp>
      <p:cxnSp>
        <p:nvCxnSpPr>
          <p:cNvPr id="5" name="Straight Connector 4"/>
          <p:cNvCxnSpPr>
            <a:cxnSpLocks/>
          </p:cNvCxnSpPr>
          <p:nvPr/>
        </p:nvCxnSpPr>
        <p:spPr>
          <a:xfrm>
            <a:off x="481978" y="1103761"/>
            <a:ext cx="111367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933" y="178120"/>
            <a:ext cx="537063" cy="612718"/>
          </a:xfrm>
          <a:prstGeom prst="rect">
            <a:avLst/>
          </a:prstGeom>
        </p:spPr>
      </p:pic>
      <p:cxnSp>
        <p:nvCxnSpPr>
          <p:cNvPr id="21" name="Vertical Divider"/>
          <p:cNvCxnSpPr>
            <a:cxnSpLocks/>
          </p:cNvCxnSpPr>
          <p:nvPr/>
        </p:nvCxnSpPr>
        <p:spPr>
          <a:xfrm>
            <a:off x="7768362" y="1103875"/>
            <a:ext cx="0" cy="5616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H Divider Mid"/>
          <p:cNvCxnSpPr>
            <a:cxnSpLocks/>
          </p:cNvCxnSpPr>
          <p:nvPr/>
        </p:nvCxnSpPr>
        <p:spPr>
          <a:xfrm>
            <a:off x="3870000" y="3900000"/>
            <a:ext cx="767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LeftHdr"/>
          <p:cNvSpPr txBox="1"/>
          <p:nvPr/>
        </p:nvSpPr>
        <p:spPr>
          <a:xfrm>
            <a:off x="420000" y="1160000"/>
            <a:ext cx="3200000" cy="2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>
                <a:latin typeface="Arial"/>
              </a:rPr>
              <a:t>Portfolio Status</a:t>
            </a:r>
          </a:p>
        </p:txBody>
      </p:sp>
      <p:sp>
        <p:nvSpPr>
          <p:cNvPr id="41" name="BarOT"/>
          <p:cNvSpPr txBox="1"/>
          <p:nvPr/>
        </p:nvSpPr>
        <p:spPr>
          <a:xfrm>
            <a:off x="420000" y="1520000"/>
            <a:ext cx="2100000" cy="320000"/>
          </a:xfrm>
          <a:prstGeom prst="rect">
            <a:avLst/>
          </a:prstGeom>
          <a:solidFill>
            <a:srgbClr val="059669"/>
          </a:solidFill>
        </p:spPr>
        <p:txBody>
          <a:bodyPr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</a:rPr>
              <a:t>  On Track</a:t>
            </a:r>
          </a:p>
        </p:txBody>
      </p:sp>
      <p:sp>
        <p:nvSpPr>
          <p:cNvPr id="42" name="NumOT"/>
          <p:cNvSpPr txBox="1"/>
          <p:nvPr/>
        </p:nvSpPr>
        <p:spPr>
          <a:xfrm>
            <a:off x="2570000" y="1520000"/>
            <a:ext cx="600000" cy="320000"/>
          </a:xfrm>
          <a:prstGeom prst="rect">
            <a:avLst/>
          </a:prstGeom>
          <a:solidFill>
            <a:srgbClr val="D1FAE5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65F46"/>
                </a:solidFill>
                <a:latin typeface="Arial"/>
              </a:rPr>
              <a:t>22</a:t>
            </a:r>
          </a:p>
        </p:txBody>
      </p:sp>
      <p:sp>
        <p:nvSpPr>
          <p:cNvPr id="43" name="BarDel"/>
          <p:cNvSpPr txBox="1"/>
          <p:nvPr/>
        </p:nvSpPr>
        <p:spPr>
          <a:xfrm>
            <a:off x="420000" y="1900000"/>
            <a:ext cx="2100000" cy="320000"/>
          </a:xfrm>
          <a:prstGeom prst="rect">
            <a:avLst/>
          </a:prstGeom>
          <a:solidFill>
            <a:srgbClr val="DC2626"/>
          </a:solidFill>
        </p:spPr>
        <p:txBody>
          <a:bodyPr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</a:rPr>
              <a:t>  Delayed</a:t>
            </a:r>
          </a:p>
        </p:txBody>
      </p:sp>
      <p:sp>
        <p:nvSpPr>
          <p:cNvPr id="44" name="NumDel"/>
          <p:cNvSpPr txBox="1"/>
          <p:nvPr/>
        </p:nvSpPr>
        <p:spPr>
          <a:xfrm>
            <a:off x="2570000" y="1900000"/>
            <a:ext cx="600000" cy="320000"/>
          </a:xfrm>
          <a:prstGeom prst="rect">
            <a:avLst/>
          </a:prstGeom>
          <a:solidFill>
            <a:srgbClr val="FEE2E2"/>
          </a:solidFill>
        </p:spPr>
        <p:txBody>
          <a:bodyPr anchor="ctr"/>
          <a:lstStyle/>
          <a:p>
            <a:pPr algn="ctr"/>
            <a:r>
              <a:rPr lang="en-US" sz="1400" b="1">
                <a:solidFill>
                  <a:srgbClr val="991B1B"/>
                </a:solidFill>
                <a:latin typeface="Arial"/>
              </a:rPr>
              <a:t>2</a:t>
            </a:r>
          </a:p>
        </p:txBody>
      </p:sp>
      <p:sp>
        <p:nvSpPr>
          <p:cNvPr id="45" name="BarHold"/>
          <p:cNvSpPr txBox="1"/>
          <p:nvPr/>
        </p:nvSpPr>
        <p:spPr>
          <a:xfrm>
            <a:off x="420000" y="2280000"/>
            <a:ext cx="2100000" cy="320000"/>
          </a:xfrm>
          <a:prstGeom prst="rect">
            <a:avLst/>
          </a:prstGeom>
          <a:solidFill>
            <a:srgbClr val="7C3AED"/>
          </a:solidFill>
        </p:spPr>
        <p:txBody>
          <a:bodyPr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</a:rPr>
              <a:t>  On Hold</a:t>
            </a:r>
          </a:p>
        </p:txBody>
      </p:sp>
      <p:sp>
        <p:nvSpPr>
          <p:cNvPr id="46" name="NumHold"/>
          <p:cNvSpPr txBox="1"/>
          <p:nvPr/>
        </p:nvSpPr>
        <p:spPr>
          <a:xfrm>
            <a:off x="2570000" y="2280000"/>
            <a:ext cx="600000" cy="320000"/>
          </a:xfrm>
          <a:prstGeom prst="rect">
            <a:avLst/>
          </a:prstGeom>
          <a:solidFill>
            <a:srgbClr val="EDE9FE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5B21B6"/>
                </a:solidFill>
                <a:latin typeface="Arial"/>
              </a:rPr>
              <a:t>3</a:t>
            </a:r>
          </a:p>
        </p:txBody>
      </p:sp>
      <p:sp>
        <p:nvSpPr>
          <p:cNvPr id="47" name="BarComp"/>
          <p:cNvSpPr txBox="1"/>
          <p:nvPr/>
        </p:nvSpPr>
        <p:spPr>
          <a:xfrm>
            <a:off x="420000" y="2660000"/>
            <a:ext cx="2100000" cy="320000"/>
          </a:xfrm>
          <a:prstGeom prst="rect">
            <a:avLst/>
          </a:prstGeom>
          <a:solidFill>
            <a:srgbClr val="1D4ED8"/>
          </a:solidFill>
        </p:spPr>
        <p:txBody>
          <a:bodyPr anchor="ctr"/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Arial"/>
              </a:rPr>
              <a:t>  Completed</a:t>
            </a:r>
          </a:p>
        </p:txBody>
      </p:sp>
      <p:sp>
        <p:nvSpPr>
          <p:cNvPr id="48" name="NumComp"/>
          <p:cNvSpPr txBox="1"/>
          <p:nvPr/>
        </p:nvSpPr>
        <p:spPr>
          <a:xfrm>
            <a:off x="2570000" y="2660000"/>
            <a:ext cx="600000" cy="320000"/>
          </a:xfrm>
          <a:prstGeom prst="rect">
            <a:avLst/>
          </a:prstGeom>
          <a:solidFill>
            <a:srgbClr val="DBEAFE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1E3A8A"/>
                </a:solidFill>
                <a:latin typeface="Arial"/>
              </a:rPr>
              <a:t>3</a:t>
            </a:r>
          </a:p>
        </p:txBody>
      </p:sp>
      <p:sp>
        <p:nvSpPr>
          <p:cNvPr id="49" name="TotalCallout"/>
          <p:cNvSpPr txBox="1"/>
          <p:nvPr/>
        </p:nvSpPr>
        <p:spPr>
          <a:xfrm>
            <a:off x="420000" y="3060000"/>
            <a:ext cx="2750000" cy="500000"/>
          </a:xfrm>
          <a:prstGeom prst="rect">
            <a:avLst/>
          </a:prstGeom>
          <a:solidFill>
            <a:srgbClr val="0F1E35"/>
          </a:solidFill>
        </p:spPr>
        <p:txBody>
          <a:bodyPr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/>
              </a:rPr>
              <a:t>30 Projects</a:t>
            </a:r>
          </a:p>
          <a:p>
            <a:pPr algn="ctr"/>
            <a:r>
              <a:rPr lang="en-US" sz="900" dirty="0">
                <a:solidFill>
                  <a:srgbClr val="94A3B8"/>
                </a:solidFill>
                <a:latin typeface="Arial"/>
              </a:rPr>
              <a:t>Total Active Portfolio  |  Apr 2026</a:t>
            </a:r>
          </a:p>
        </p:txBody>
      </p:sp>
      <p:sp>
        <p:nvSpPr>
          <p:cNvPr id="50" name="TrackerLink"/>
          <p:cNvSpPr txBox="1"/>
          <p:nvPr/>
        </p:nvSpPr>
        <p:spPr>
          <a:xfrm>
            <a:off x="420000" y="3640000"/>
            <a:ext cx="3200000" cy="220000"/>
          </a:xfrm>
          <a:prstGeom prst="rect">
            <a:avLst/>
          </a:prstGeom>
          <a:solidFill>
            <a:srgbClr val="F1F5F9"/>
          </a:solidFill>
        </p:spPr>
        <p:txBody>
          <a:bodyPr anchor="ctr"/>
          <a:lstStyle/>
          <a:p>
            <a:pPr algn="ctr"/>
            <a:r>
              <a:rPr lang="en-US" sz="800" b="1" dirty="0">
                <a:solidFill>
                  <a:srgbClr val="1D4ED8"/>
                </a:solidFill>
                <a:latin typeface="Arial"/>
                <a:hlinkClick r:id="rId4"/>
              </a:rPr>
              <a:t>📎 Full Projects Roadmap &amp; Tracker</a:t>
            </a:r>
            <a:endParaRPr lang="en-US" sz="800" b="1" dirty="0">
              <a:solidFill>
                <a:srgbClr val="1D4ED8"/>
              </a:solidFill>
              <a:latin typeface="Arial"/>
            </a:endParaRPr>
          </a:p>
        </p:txBody>
      </p:sp>
      <p:sp>
        <p:nvSpPr>
          <p:cNvPr id="51" name="NewProj"/>
          <p:cNvSpPr txBox="1"/>
          <p:nvPr/>
        </p:nvSpPr>
        <p:spPr>
          <a:xfrm>
            <a:off x="420000" y="3940000"/>
            <a:ext cx="3200000" cy="26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300" b="1">
                <a:latin typeface="Arial"/>
              </a:rPr>
              <a:t>New This Month</a:t>
            </a:r>
          </a:p>
        </p:txBody>
      </p:sp>
      <p:sp>
        <p:nvSpPr>
          <p:cNvPr id="52" name="NewProjBox"/>
          <p:cNvSpPr/>
          <p:nvPr/>
        </p:nvSpPr>
        <p:spPr>
          <a:xfrm>
            <a:off x="420000" y="4240000"/>
            <a:ext cx="3200000" cy="248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lIns="182880" tIns="182880" rIns="182880" bIns="182880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Payroll — ERP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Dealer Orders Prepayments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PO Workflow &amp; Mobile Approvals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Van Sales Credit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Asset Management — Vendor evaluation and solution finalization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Footfall analysis Solution — Project Kickoff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60" name="HighlightsHdr"/>
          <p:cNvSpPr txBox="1"/>
          <p:nvPr/>
        </p:nvSpPr>
        <p:spPr>
          <a:xfrm>
            <a:off x="3870000" y="1150000"/>
            <a:ext cx="3700000" cy="26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 dirty="0">
                <a:latin typeface="Arial"/>
              </a:rPr>
              <a:t>March Highlights</a:t>
            </a:r>
          </a:p>
        </p:txBody>
      </p:sp>
      <p:sp>
        <p:nvSpPr>
          <p:cNvPr id="61" name="HighlightsBox"/>
          <p:cNvSpPr/>
          <p:nvPr/>
        </p:nvSpPr>
        <p:spPr>
          <a:xfrm>
            <a:off x="3870000" y="1450000"/>
            <a:ext cx="3700000" cy="241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lIns="182880" tIns="182880" rIns="182880" bIns="182880" rtlCol="0" anchor="t">
            <a:normAutofit fontScale="92500"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/>
              <a:t>Sales Forecast</a:t>
            </a:r>
            <a:r>
              <a:rPr lang="en-US" sz="1100" dirty="0"/>
              <a:t> — Delivered and closed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/>
              <a:t>Showroom Rollout</a:t>
            </a:r>
            <a:r>
              <a:rPr lang="en-US" sz="1100" dirty="0"/>
              <a:t> — Sabah Al Salem Showroom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/>
              <a:t>International Barcodes</a:t>
            </a:r>
            <a:r>
              <a:rPr lang="en-US" sz="1100" dirty="0"/>
              <a:t> — </a:t>
            </a:r>
            <a:r>
              <a:rPr lang="en-US" sz="1100" dirty="0">
                <a:latin typeface="Arial"/>
              </a:rPr>
              <a:t>Rollout completed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/>
              <a:t>Service Contracts — </a:t>
            </a:r>
            <a:r>
              <a:rPr lang="en-US" sz="1100" dirty="0"/>
              <a:t>UAT underway, 65% complete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/>
              <a:t>Stock Take Enhancements</a:t>
            </a:r>
            <a:r>
              <a:rPr lang="en-US" sz="1100" dirty="0"/>
              <a:t> — 85% done. Sign-off pending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/>
              <a:t>Ecommerce Soft Launch</a:t>
            </a:r>
            <a:r>
              <a:rPr lang="en-US" sz="1100" dirty="0"/>
              <a:t> — ERP Integration development Completed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/>
              <a:t>IMEI Tracking </a:t>
            </a:r>
            <a:r>
              <a:rPr lang="en-US" sz="1100" dirty="0"/>
              <a:t>— 95% complete, final execution stage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/>
              <a:t>Power BI Reports </a:t>
            </a:r>
            <a:r>
              <a:rPr lang="en-US" sz="1100" dirty="0"/>
              <a:t>— 6 reports delivered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62" name="RisksHdr"/>
          <p:cNvSpPr txBox="1"/>
          <p:nvPr/>
        </p:nvSpPr>
        <p:spPr>
          <a:xfrm>
            <a:off x="7840000" y="1150000"/>
            <a:ext cx="3700000" cy="26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>
                <a:latin typeface="Arial"/>
              </a:rPr>
              <a:t>Risks &amp; Issues</a:t>
            </a:r>
          </a:p>
        </p:txBody>
      </p:sp>
      <p:sp>
        <p:nvSpPr>
          <p:cNvPr id="63" name="RisksBox"/>
          <p:cNvSpPr/>
          <p:nvPr/>
        </p:nvSpPr>
        <p:spPr>
          <a:xfrm>
            <a:off x="7840000" y="1450000"/>
            <a:ext cx="3700000" cy="241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lIns="182880" tIns="182880" rIns="182880" bIns="182880" rtlCol="0" anchor="t">
            <a:normAutofit fontScale="925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Ecommerce Soft Launch</a:t>
            </a:r>
            <a:r>
              <a:rPr lang="en-US" sz="1100" dirty="0"/>
              <a:t> delayed — UAT instance readiness and dev completion by SF partner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Service Tech App</a:t>
            </a:r>
            <a:r>
              <a:rPr lang="en-US" sz="1100" dirty="0"/>
              <a:t> delayed — was Feb, now Jun 2026</a:t>
            </a:r>
          </a:p>
          <a:p>
            <a:pPr marL="171450" indent="-171450">
              <a:buFont typeface="Arial"/>
              <a:buChar char="•"/>
            </a:pPr>
            <a:r>
              <a:rPr lang="en-US" sz="1100" b="1" dirty="0"/>
              <a:t>Stock Take</a:t>
            </a:r>
            <a:r>
              <a:rPr lang="en-US" sz="1100" b="0" dirty="0"/>
              <a:t> — Sign-off blocked. Operations to resolve physical vs system expiry data mismatch.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Talabat Integration</a:t>
            </a:r>
            <a:r>
              <a:rPr lang="en-US" sz="1100" b="0" dirty="0"/>
              <a:t> — On hold. Re-engage with commercial team </a:t>
            </a:r>
            <a:r>
              <a:rPr lang="en-US" sz="1100" dirty="0"/>
              <a:t>to align priorities</a:t>
            </a:r>
            <a:r>
              <a:rPr lang="en-US" sz="1100" b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Post-demo scope changes on 2 retail apps — adding delivery risk to May timelines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Payroll Integration </a:t>
            </a:r>
            <a:r>
              <a:rPr lang="en-US" sz="1100" dirty="0"/>
              <a:t>— partner resource alignment pending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70" name="AprilHdr"/>
          <p:cNvSpPr txBox="1"/>
          <p:nvPr/>
        </p:nvSpPr>
        <p:spPr>
          <a:xfrm>
            <a:off x="3870000" y="3940000"/>
            <a:ext cx="3700000" cy="26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 dirty="0">
                <a:latin typeface="Arial"/>
              </a:rPr>
              <a:t>April 2026 Focus</a:t>
            </a:r>
          </a:p>
        </p:txBody>
      </p:sp>
      <p:sp>
        <p:nvSpPr>
          <p:cNvPr id="71" name="AprilBox"/>
          <p:cNvSpPr/>
          <p:nvPr/>
        </p:nvSpPr>
        <p:spPr>
          <a:xfrm>
            <a:off x="3870000" y="4240000"/>
            <a:ext cx="3700000" cy="248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lIns="182880" tIns="182880" rIns="182880" bIns="182880" rtlCol="0" anchor="t">
            <a:normAutofit fontScale="25000" lnSpcReduction="20000"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Ecommerce Soft Launch </a:t>
            </a:r>
            <a:r>
              <a:rPr lang="en-US" sz="4000" dirty="0"/>
              <a:t>— UAT completion target 25 April (subject to SF partner &amp; Merchandising readiness)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Dealer Prepayments </a:t>
            </a:r>
            <a:r>
              <a:rPr lang="en-US" sz="4000" dirty="0"/>
              <a:t>— Go-live 30 April 2026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PO Workflow </a:t>
            </a:r>
            <a:r>
              <a:rPr lang="en-US" sz="4000" dirty="0"/>
              <a:t>— Demo 24 April, go-live 1 May 2026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Service Tech App </a:t>
            </a:r>
            <a:r>
              <a:rPr lang="en-US" sz="4000" dirty="0"/>
              <a:t>15 April— Development handover to EBS, testing begins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People Engagement Platform </a:t>
            </a:r>
            <a:r>
              <a:rPr lang="en-US" sz="4000" dirty="0"/>
              <a:t>— Vendor demo scheduled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Extended Warranty &amp; Installation </a:t>
            </a:r>
            <a:r>
              <a:rPr lang="en-US" sz="4000" dirty="0"/>
              <a:t>— CR ongoing, go-live May 2026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DocuSign</a:t>
            </a:r>
            <a:r>
              <a:rPr lang="en-US" sz="4000" dirty="0"/>
              <a:t> — Trial evaluation, license confirmation this month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Van Sales Credit Operations </a:t>
            </a:r>
            <a:r>
              <a:rPr lang="en-US" sz="4000" dirty="0"/>
              <a:t>— Go-live 20 April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Service Contracts </a:t>
            </a:r>
            <a:r>
              <a:rPr lang="en-US" sz="4000" dirty="0"/>
              <a:t>— UAT sign-off and go-live target April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b="1" dirty="0"/>
              <a:t>Sophos MDR </a:t>
            </a:r>
            <a:r>
              <a:rPr lang="en-US" sz="4000" dirty="0"/>
              <a:t>— Go-live pending executive approval</a:t>
            </a:r>
          </a:p>
          <a:p>
            <a:endParaRPr lang="en-US" sz="25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80" name="NextStepsHdr"/>
          <p:cNvSpPr txBox="1"/>
          <p:nvPr/>
        </p:nvSpPr>
        <p:spPr>
          <a:xfrm>
            <a:off x="7840000" y="3940000"/>
            <a:ext cx="3700000" cy="26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 dirty="0">
                <a:latin typeface="Arial"/>
              </a:rPr>
              <a:t>Decisions Required</a:t>
            </a:r>
          </a:p>
        </p:txBody>
      </p:sp>
      <p:sp>
        <p:nvSpPr>
          <p:cNvPr id="81" name="NextStepsBox"/>
          <p:cNvSpPr/>
          <p:nvPr/>
        </p:nvSpPr>
        <p:spPr>
          <a:xfrm>
            <a:off x="7840000" y="4240000"/>
            <a:ext cx="3700000" cy="248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lIns="182880" tIns="182880" rIns="182880" bIns="182880" rtlCol="0" anchor="t">
            <a:normAutofit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Operations</a:t>
            </a:r>
            <a:r>
              <a:rPr lang="en-US" sz="1000" dirty="0"/>
              <a:t> — Resolve expiry data mismatch issues and signoff to kickstart integration project mismatch by 25 April.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Finance</a:t>
            </a:r>
            <a:r>
              <a:rPr lang="en-US" sz="1000" dirty="0"/>
              <a:t> — Upload approved PO budgets in live by 22 April to enable PO workflow go-live on 1 May.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Executive</a:t>
            </a:r>
            <a:r>
              <a:rPr lang="en-US" sz="1000" dirty="0"/>
              <a:t> — Approve Digital Price Tags vendor selection to proceed with integration.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Commercial</a:t>
            </a:r>
            <a:r>
              <a:rPr lang="en-US" sz="1000" dirty="0"/>
              <a:t> — Re-engage Talabat &amp; ERP partner. Integration on hold until actioned.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Marketing </a:t>
            </a:r>
            <a:r>
              <a:rPr lang="en-US" sz="1000" dirty="0"/>
              <a:t>— Confirm revised Ecommerce go-live date.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Finance </a:t>
            </a:r>
            <a:r>
              <a:rPr lang="en-US" sz="1000" dirty="0"/>
              <a:t>— Payment due to close Sophos MDR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B59C10199A04AA57CCBE6B7BA2CA7" ma:contentTypeVersion="4" ma:contentTypeDescription="Create a new document." ma:contentTypeScope="" ma:versionID="e96fab8c4e0d6c58b95f452892699993">
  <xsd:schema xmlns:xsd="http://www.w3.org/2001/XMLSchema" xmlns:xs="http://www.w3.org/2001/XMLSchema" xmlns:p="http://schemas.microsoft.com/office/2006/metadata/properties" xmlns:ns2="d83f62e8-34f7-44bf-910f-c90db233e1e3" targetNamespace="http://schemas.microsoft.com/office/2006/metadata/properties" ma:root="true" ma:fieldsID="30ad3958c0c5e6dfcda7fb005274091c" ns2:_="">
    <xsd:import namespace="d83f62e8-34f7-44bf-910f-c90db233e1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f62e8-34f7-44bf-910f-c90db233e1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7B93FB-1F56-45E5-B669-A3598D27FB1C}">
  <ds:schemaRefs>
    <ds:schemaRef ds:uri="d83f62e8-34f7-44bf-910f-c90db233e1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6BB5C63-6DEE-4E15-AE25-D2A1E1EFFCF9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d83f62e8-34f7-44bf-910f-c90db233e1e3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55287C-2C6E-4709-8C9E-BB7BCA51FD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422</Words>
  <Application>Microsoft Office PowerPoint</Application>
  <PresentationFormat>Widescreen</PresentationFormat>
  <Paragraphs>63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Arial Nova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Gladson B. George</dc:creator>
  <cp:lastModifiedBy>Jeswin Davis</cp:lastModifiedBy>
  <cp:revision>4</cp:revision>
  <dcterms:created xsi:type="dcterms:W3CDTF">2026-04-05T08:15:55Z</dcterms:created>
  <dcterms:modified xsi:type="dcterms:W3CDTF">2026-04-14T18:32:31Z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0x010100B79B59C10199A04AA57CCBE6B7BA2CA7</vt:lpwstr>
  </property>
</Properties>
</file>